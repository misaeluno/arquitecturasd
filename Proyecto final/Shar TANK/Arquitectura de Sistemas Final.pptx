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Proxima Nova"/>
      <p:regular r:id="rId13"/>
      <p:bold r:id="rId14"/>
      <p:italic r:id="rId15"/>
      <p:boldItalic r:id="rId16"/>
    </p:embeddedFont>
    <p:embeddedFont>
      <p:font typeface="Garamond"/>
      <p:regular r:id="rId17"/>
      <p:bold r:id="rId18"/>
      <p:italic r:id="rId19"/>
      <p:boldItalic r:id="rId20"/>
    </p:embeddedFont>
    <p:embeddedFont>
      <p:font typeface="Overpas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aramond-boldItalic.fntdata"/><Relationship Id="rId11" Type="http://schemas.openxmlformats.org/officeDocument/2006/relationships/slide" Target="slides/slide6.xml"/><Relationship Id="rId22" Type="http://schemas.openxmlformats.org/officeDocument/2006/relationships/font" Target="fonts/Overpass-bold.fntdata"/><Relationship Id="rId10" Type="http://schemas.openxmlformats.org/officeDocument/2006/relationships/slide" Target="slides/slide5.xml"/><Relationship Id="rId21" Type="http://schemas.openxmlformats.org/officeDocument/2006/relationships/font" Target="fonts/Overpass-regular.fntdata"/><Relationship Id="rId13" Type="http://schemas.openxmlformats.org/officeDocument/2006/relationships/font" Target="fonts/ProximaNova-regular.fntdata"/><Relationship Id="rId24" Type="http://schemas.openxmlformats.org/officeDocument/2006/relationships/font" Target="fonts/Overpass-boldItalic.fntdata"/><Relationship Id="rId12" Type="http://schemas.openxmlformats.org/officeDocument/2006/relationships/slide" Target="slides/slide7.xml"/><Relationship Id="rId23" Type="http://schemas.openxmlformats.org/officeDocument/2006/relationships/font" Target="fonts/Overpas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roximaNova-italic.fntdata"/><Relationship Id="rId14" Type="http://schemas.openxmlformats.org/officeDocument/2006/relationships/font" Target="fonts/ProximaNova-bold.fntdata"/><Relationship Id="rId17" Type="http://schemas.openxmlformats.org/officeDocument/2006/relationships/font" Target="fonts/Garamond-regular.fntdata"/><Relationship Id="rId16" Type="http://schemas.openxmlformats.org/officeDocument/2006/relationships/font" Target="fonts/ProximaNova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Garamond-italic.fntdata"/><Relationship Id="rId6" Type="http://schemas.openxmlformats.org/officeDocument/2006/relationships/slide" Target="slides/slide1.xml"/><Relationship Id="rId18" Type="http://schemas.openxmlformats.org/officeDocument/2006/relationships/font" Target="fonts/Garamon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1b8f4f635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1b8f4f635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1b8f4f635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1b8f4f635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1b8f4f635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1b8f4f635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d64de49e13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d64de49e13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d64de49e13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d64de49e13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d64de49e13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d64de49e13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11700" y="272800"/>
            <a:ext cx="8520600" cy="252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Garamond"/>
                <a:ea typeface="Garamond"/>
                <a:cs typeface="Garamond"/>
                <a:sym typeface="Garamond"/>
              </a:rPr>
              <a:t>Sistema inteligente </a:t>
            </a:r>
            <a:br>
              <a:rPr b="1" lang="es">
                <a:latin typeface="Garamond"/>
                <a:ea typeface="Garamond"/>
                <a:cs typeface="Garamond"/>
                <a:sym typeface="Garamond"/>
              </a:rPr>
            </a:br>
            <a:r>
              <a:rPr b="1" lang="es">
                <a:latin typeface="Garamond"/>
                <a:ea typeface="Garamond"/>
                <a:cs typeface="Garamond"/>
                <a:sym typeface="Garamond"/>
              </a:rPr>
              <a:t>de horarios de </a:t>
            </a:r>
            <a:br>
              <a:rPr b="1" lang="es">
                <a:latin typeface="Garamond"/>
                <a:ea typeface="Garamond"/>
                <a:cs typeface="Garamond"/>
                <a:sym typeface="Garamond"/>
              </a:rPr>
            </a:br>
            <a:r>
              <a:rPr b="1" lang="es">
                <a:latin typeface="Garamond"/>
                <a:ea typeface="Garamond"/>
                <a:cs typeface="Garamond"/>
                <a:sym typeface="Garamond"/>
              </a:rPr>
              <a:t>salas</a:t>
            </a:r>
            <a:endParaRPr b="1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2718600" y="3107581"/>
            <a:ext cx="3706800" cy="10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2"/>
                </a:solidFill>
                <a:latin typeface="Overpass"/>
                <a:ea typeface="Overpass"/>
                <a:cs typeface="Overpass"/>
                <a:sym typeface="Overpass"/>
              </a:rPr>
              <a:t>Profesor 		:	Nahur </a:t>
            </a:r>
            <a:r>
              <a:rPr lang="es">
                <a:solidFill>
                  <a:schemeClr val="lt2"/>
                </a:solidFill>
                <a:latin typeface="Overpass"/>
                <a:ea typeface="Overpass"/>
                <a:cs typeface="Overpass"/>
                <a:sym typeface="Overpass"/>
              </a:rPr>
              <a:t>Melendez</a:t>
            </a:r>
            <a:endParaRPr>
              <a:solidFill>
                <a:schemeClr val="lt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">
                <a:solidFill>
                  <a:schemeClr val="lt2"/>
                </a:solidFill>
                <a:latin typeface="Overpass"/>
                <a:ea typeface="Overpass"/>
                <a:cs typeface="Overpass"/>
                <a:sym typeface="Overpass"/>
              </a:rPr>
            </a:br>
            <a:r>
              <a:rPr lang="es">
                <a:solidFill>
                  <a:schemeClr val="lt2"/>
                </a:solidFill>
                <a:latin typeface="Overpass"/>
                <a:ea typeface="Overpass"/>
                <a:cs typeface="Overpass"/>
                <a:sym typeface="Overpass"/>
              </a:rPr>
              <a:t>Estudiantes		:</a:t>
            </a:r>
            <a:r>
              <a:rPr lang="es">
                <a:solidFill>
                  <a:schemeClr val="lt2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r>
              <a:rPr lang="es">
                <a:solidFill>
                  <a:schemeClr val="lt2"/>
                </a:solidFill>
                <a:latin typeface="Overpass"/>
                <a:ea typeface="Overpass"/>
                <a:cs typeface="Overpass"/>
                <a:sym typeface="Overpass"/>
              </a:rPr>
              <a:t>Celeste </a:t>
            </a:r>
            <a:r>
              <a:rPr lang="es">
                <a:solidFill>
                  <a:schemeClr val="lt2"/>
                </a:solidFill>
                <a:latin typeface="Overpass"/>
                <a:ea typeface="Overpass"/>
                <a:cs typeface="Overpass"/>
                <a:sym typeface="Overpass"/>
              </a:rPr>
              <a:t>Sarmiento</a:t>
            </a:r>
            <a:br>
              <a:rPr lang="es">
                <a:solidFill>
                  <a:schemeClr val="lt2"/>
                </a:solidFill>
                <a:latin typeface="Overpass"/>
                <a:ea typeface="Overpass"/>
                <a:cs typeface="Overpass"/>
                <a:sym typeface="Overpass"/>
              </a:rPr>
            </a:br>
            <a:r>
              <a:rPr lang="es">
                <a:solidFill>
                  <a:schemeClr val="lt2"/>
                </a:solidFill>
                <a:latin typeface="Overpass"/>
                <a:ea typeface="Overpass"/>
                <a:cs typeface="Overpass"/>
                <a:sym typeface="Overpass"/>
              </a:rPr>
              <a:t>				</a:t>
            </a:r>
            <a:r>
              <a:rPr lang="es">
                <a:solidFill>
                  <a:schemeClr val="lt2"/>
                </a:solidFill>
                <a:latin typeface="Overpass"/>
                <a:ea typeface="Overpass"/>
                <a:cs typeface="Overpass"/>
                <a:sym typeface="Overpass"/>
              </a:rPr>
              <a:t>Misael </a:t>
            </a:r>
            <a:r>
              <a:rPr lang="es">
                <a:solidFill>
                  <a:schemeClr val="lt2"/>
                </a:solidFill>
                <a:latin typeface="Overpass"/>
                <a:ea typeface="Overpass"/>
                <a:cs typeface="Overpass"/>
                <a:sym typeface="Overpass"/>
              </a:rPr>
              <a:t>Gallardo</a:t>
            </a:r>
            <a:endParaRPr>
              <a:solidFill>
                <a:schemeClr val="lt2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1568550" y="4435875"/>
            <a:ext cx="60069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Sistema de horarios digitales, en las aulas del </a:t>
            </a:r>
            <a:r>
              <a:rPr lang="es" sz="11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departamento</a:t>
            </a:r>
            <a:r>
              <a:rPr lang="es" sz="11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 DIICC</a:t>
            </a:r>
            <a:endParaRPr sz="11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0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¿Que se busca solucionar?</a:t>
            </a:r>
            <a:endParaRPr b="1" sz="60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311700" y="2909375"/>
            <a:ext cx="8520600" cy="21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verpass"/>
                <a:ea typeface="Overpass"/>
                <a:cs typeface="Overpass"/>
                <a:sym typeface="Overpass"/>
              </a:rPr>
              <a:t>Se ha observado que varios estudiantes en tiempo de </a:t>
            </a:r>
            <a:r>
              <a:rPr lang="es">
                <a:latin typeface="Overpass"/>
                <a:ea typeface="Overpass"/>
                <a:cs typeface="Overpass"/>
                <a:sym typeface="Overpass"/>
              </a:rPr>
              <a:t>receso</a:t>
            </a:r>
            <a:r>
              <a:rPr lang="es">
                <a:latin typeface="Overpass"/>
                <a:ea typeface="Overpass"/>
                <a:cs typeface="Overpass"/>
                <a:sym typeface="Overpass"/>
              </a:rPr>
              <a:t>, buscan un espacio donde descansar, avanzar trabajos, </a:t>
            </a:r>
            <a:r>
              <a:rPr lang="es">
                <a:latin typeface="Overpass"/>
                <a:ea typeface="Overpass"/>
                <a:cs typeface="Overpass"/>
                <a:sym typeface="Overpass"/>
              </a:rPr>
              <a:t>proyectos</a:t>
            </a:r>
            <a:r>
              <a:rPr lang="es">
                <a:latin typeface="Overpass"/>
                <a:ea typeface="Overpass"/>
                <a:cs typeface="Overpass"/>
                <a:sym typeface="Overpass"/>
              </a:rPr>
              <a:t> o incluso jugar, sin embargo:</a:t>
            </a:r>
            <a:endParaRPr>
              <a:latin typeface="Overpass"/>
              <a:ea typeface="Overpass"/>
              <a:cs typeface="Overpass"/>
              <a:sym typeface="Overpass"/>
            </a:endParaRPr>
          </a:p>
          <a:p>
            <a:pPr indent="-342900" lvl="0" marL="457200" rtl="0" algn="ctr">
              <a:spcBef>
                <a:spcPts val="1200"/>
              </a:spcBef>
              <a:spcAft>
                <a:spcPts val="0"/>
              </a:spcAft>
              <a:buSzPts val="1800"/>
              <a:buFont typeface="Overpass"/>
              <a:buAutoNum type="arabicParenR"/>
            </a:pPr>
            <a:r>
              <a:rPr lang="es">
                <a:solidFill>
                  <a:schemeClr val="lt2"/>
                </a:solidFill>
                <a:latin typeface="Overpass"/>
                <a:ea typeface="Overpass"/>
                <a:cs typeface="Overpass"/>
                <a:sym typeface="Overpass"/>
              </a:rPr>
              <a:t>Sala de estudio no da abasto</a:t>
            </a:r>
            <a:r>
              <a:rPr lang="es">
                <a:latin typeface="Overpass"/>
                <a:ea typeface="Overpass"/>
                <a:cs typeface="Overpass"/>
                <a:sym typeface="Overpass"/>
              </a:rPr>
              <a:t> en la cantidad de estudiantes.</a:t>
            </a:r>
            <a:endParaRPr>
              <a:latin typeface="Overpass"/>
              <a:ea typeface="Overpass"/>
              <a:cs typeface="Overpass"/>
              <a:sym typeface="Overpass"/>
            </a:endParaRPr>
          </a:p>
          <a:p>
            <a:pPr indent="-342900" lvl="0" marL="914400" rtl="0" algn="ctr">
              <a:spcBef>
                <a:spcPts val="0"/>
              </a:spcBef>
              <a:spcAft>
                <a:spcPts val="0"/>
              </a:spcAft>
              <a:buSzPts val="1800"/>
              <a:buFont typeface="Overpass"/>
              <a:buAutoNum type="arabicParenR"/>
            </a:pPr>
            <a:r>
              <a:rPr lang="es">
                <a:latin typeface="Overpass"/>
                <a:ea typeface="Overpass"/>
                <a:cs typeface="Overpass"/>
                <a:sym typeface="Overpass"/>
              </a:rPr>
              <a:t>Ir a </a:t>
            </a:r>
            <a:r>
              <a:rPr lang="es">
                <a:solidFill>
                  <a:schemeClr val="lt2"/>
                </a:solidFill>
                <a:latin typeface="Overpass"/>
                <a:ea typeface="Overpass"/>
                <a:cs typeface="Overpass"/>
                <a:sym typeface="Overpass"/>
              </a:rPr>
              <a:t>otras salas</a:t>
            </a:r>
            <a:r>
              <a:rPr lang="es">
                <a:latin typeface="Overpass"/>
                <a:ea typeface="Overpass"/>
                <a:cs typeface="Overpass"/>
                <a:sym typeface="Overpass"/>
              </a:rPr>
              <a:t> resulta inconveniente, pues pueden estar reservadas.</a:t>
            </a:r>
            <a:endParaRPr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ctrTitle"/>
          </p:nvPr>
        </p:nvSpPr>
        <p:spPr>
          <a:xfrm>
            <a:off x="510450" y="530925"/>
            <a:ext cx="8123100" cy="231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2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¿Como se piensa solucionar?</a:t>
            </a:r>
            <a:endParaRPr b="1" sz="72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73" name="Google Shape;73;p15"/>
          <p:cNvSpPr txBox="1"/>
          <p:nvPr>
            <p:ph idx="1" type="subTitle"/>
          </p:nvPr>
        </p:nvSpPr>
        <p:spPr>
          <a:xfrm>
            <a:off x="510450" y="3182350"/>
            <a:ext cx="8123100" cy="18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latin typeface="Overpass"/>
                <a:ea typeface="Overpass"/>
                <a:cs typeface="Overpass"/>
                <a:sym typeface="Overpass"/>
              </a:rPr>
              <a:t>E</a:t>
            </a:r>
            <a:r>
              <a:rPr lang="es" sz="18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sto se puede solucionar </a:t>
            </a:r>
            <a:r>
              <a:rPr lang="es" sz="18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a través</a:t>
            </a:r>
            <a:r>
              <a:rPr lang="es" sz="18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del uso de </a:t>
            </a:r>
            <a:r>
              <a:rPr lang="es" sz="1800">
                <a:solidFill>
                  <a:schemeClr val="lt2"/>
                </a:solidFill>
                <a:latin typeface="Overpass"/>
                <a:ea typeface="Overpass"/>
                <a:cs typeface="Overpass"/>
                <a:sym typeface="Overpass"/>
              </a:rPr>
              <a:t>microcontroladores</a:t>
            </a:r>
            <a:r>
              <a:rPr lang="es" sz="18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, </a:t>
            </a:r>
            <a:r>
              <a:rPr lang="es" sz="1800">
                <a:solidFill>
                  <a:schemeClr val="lt2"/>
                </a:solidFill>
                <a:latin typeface="Overpass"/>
                <a:ea typeface="Overpass"/>
                <a:cs typeface="Overpass"/>
                <a:sym typeface="Overpass"/>
              </a:rPr>
              <a:t>pantallas LED</a:t>
            </a:r>
            <a:r>
              <a:rPr lang="es" sz="18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y una </a:t>
            </a:r>
            <a:r>
              <a:rPr lang="es" sz="1800">
                <a:solidFill>
                  <a:schemeClr val="lt2"/>
                </a:solidFill>
                <a:latin typeface="Overpass"/>
                <a:ea typeface="Overpass"/>
                <a:cs typeface="Overpass"/>
                <a:sym typeface="Overpass"/>
              </a:rPr>
              <a:t>base de datos</a:t>
            </a:r>
            <a:r>
              <a:rPr lang="es" sz="18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de los horarios de las aulas.</a:t>
            </a:r>
            <a:endParaRPr sz="18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En este proyecto se propone colocar en cada entrada de las salas un letrero electrónico, el cual indique </a:t>
            </a:r>
            <a:r>
              <a:rPr lang="es" sz="1800">
                <a:solidFill>
                  <a:schemeClr val="lt2"/>
                </a:solidFill>
                <a:latin typeface="Overpass"/>
                <a:ea typeface="Overpass"/>
                <a:cs typeface="Overpass"/>
                <a:sym typeface="Overpass"/>
              </a:rPr>
              <a:t>clase actual</a:t>
            </a:r>
            <a:r>
              <a:rPr lang="es" sz="18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de la sala y </a:t>
            </a:r>
            <a:r>
              <a:rPr lang="es" sz="1800">
                <a:solidFill>
                  <a:schemeClr val="lt2"/>
                </a:solidFill>
                <a:latin typeface="Overpass"/>
                <a:ea typeface="Overpass"/>
                <a:cs typeface="Overpass"/>
                <a:sym typeface="Overpass"/>
              </a:rPr>
              <a:t>duración</a:t>
            </a:r>
            <a:r>
              <a:rPr lang="es" sz="18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. Durante </a:t>
            </a:r>
            <a:r>
              <a:rPr lang="es" sz="18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recesos</a:t>
            </a:r>
            <a:r>
              <a:rPr lang="es" sz="18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indicaría el </a:t>
            </a:r>
            <a:r>
              <a:rPr lang="es" sz="1800">
                <a:solidFill>
                  <a:schemeClr val="lt2"/>
                </a:solidFill>
                <a:latin typeface="Overpass"/>
                <a:ea typeface="Overpass"/>
                <a:cs typeface="Overpass"/>
                <a:sym typeface="Overpass"/>
              </a:rPr>
              <a:t>horario</a:t>
            </a:r>
            <a:r>
              <a:rPr lang="es" sz="18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y el nombre de la próxima clase.</a:t>
            </a:r>
            <a:endParaRPr sz="18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510450" y="1534775"/>
            <a:ext cx="8123100" cy="13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¿Que se necesita para llevar </a:t>
            </a:r>
            <a:r>
              <a:rPr b="1" lang="es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a cabo</a:t>
            </a:r>
            <a:r>
              <a:rPr b="1" lang="es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 el proyecto?</a:t>
            </a:r>
            <a:endParaRPr b="1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79" name="Google Shape;79;p16"/>
          <p:cNvSpPr txBox="1"/>
          <p:nvPr>
            <p:ph idx="4294967295" type="body"/>
          </p:nvPr>
        </p:nvSpPr>
        <p:spPr>
          <a:xfrm>
            <a:off x="338600" y="3243200"/>
            <a:ext cx="8493900" cy="17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S</a:t>
            </a:r>
            <a:r>
              <a:rPr lang="es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e necesita un número de </a:t>
            </a:r>
            <a:r>
              <a:rPr lang="es">
                <a:solidFill>
                  <a:schemeClr val="lt2"/>
                </a:solidFill>
                <a:latin typeface="Overpass"/>
                <a:ea typeface="Overpass"/>
                <a:cs typeface="Overpass"/>
                <a:sym typeface="Overpass"/>
              </a:rPr>
              <a:t>microcontroladores</a:t>
            </a:r>
            <a:r>
              <a:rPr lang="es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igual al de las salas de clases, y para cada uno de estos, </a:t>
            </a:r>
            <a:r>
              <a:rPr lang="es">
                <a:solidFill>
                  <a:schemeClr val="lt2"/>
                </a:solidFill>
                <a:latin typeface="Overpass"/>
                <a:ea typeface="Overpass"/>
                <a:cs typeface="Overpass"/>
                <a:sym typeface="Overpass"/>
              </a:rPr>
              <a:t>pantallas LED</a:t>
            </a:r>
            <a:r>
              <a:rPr lang="es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propuestas en este proyecto.</a:t>
            </a:r>
            <a:endParaRPr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El proyecto consta con </a:t>
            </a:r>
            <a:r>
              <a:rPr lang="es">
                <a:solidFill>
                  <a:schemeClr val="lt2"/>
                </a:solidFill>
                <a:latin typeface="Overpass"/>
                <a:ea typeface="Overpass"/>
                <a:cs typeface="Overpass"/>
                <a:sym typeface="Overpass"/>
              </a:rPr>
              <a:t>3 fases</a:t>
            </a:r>
            <a:r>
              <a:rPr lang="es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principales:</a:t>
            </a:r>
            <a:endParaRPr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265500" y="724200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Recopilación de horarios</a:t>
            </a:r>
            <a:endParaRPr b="1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85" name="Google Shape;85;p1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>
                <a:latin typeface="Overpass"/>
                <a:ea typeface="Overpass"/>
                <a:cs typeface="Overpass"/>
                <a:sym typeface="Overpass"/>
              </a:rPr>
              <a:t>S</a:t>
            </a:r>
            <a:r>
              <a:rPr lang="es">
                <a:latin typeface="Overpass"/>
                <a:ea typeface="Overpass"/>
                <a:cs typeface="Overpass"/>
                <a:sym typeface="Overpass"/>
              </a:rPr>
              <a:t>e ha de consultar al encargado de las salas, los horarios de cada clase y dónde son impartidas, con el fin de generar la base de datos con información legítima.</a:t>
            </a:r>
            <a:endParaRPr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5650" y="2406175"/>
            <a:ext cx="2604902" cy="26049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265500" y="724200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Creacion de codigo y testeo</a:t>
            </a:r>
            <a:endParaRPr b="1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2" name="Google Shape;92;p18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>
                <a:latin typeface="Overpass"/>
                <a:ea typeface="Overpass"/>
                <a:cs typeface="Overpass"/>
                <a:sym typeface="Overpass"/>
              </a:rPr>
              <a:t>La</a:t>
            </a:r>
            <a:r>
              <a:rPr lang="es">
                <a:latin typeface="Overpass"/>
                <a:ea typeface="Overpass"/>
                <a:cs typeface="Overpass"/>
                <a:sym typeface="Overpass"/>
              </a:rPr>
              <a:t> programación de cada Arduino Uno, conectados a una base de datos local por sala, para luego testear el correcto funcionamiento del sistema.</a:t>
            </a:r>
            <a:endParaRPr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513" y="2571750"/>
            <a:ext cx="3985172" cy="2226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422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Instalación</a:t>
            </a:r>
            <a:endParaRPr b="1" sz="422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42350"/>
            <a:ext cx="8520600" cy="31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Overpass"/>
              <a:buChar char="-"/>
            </a:pPr>
            <a:r>
              <a:rPr lang="es">
                <a:latin typeface="Overpass"/>
                <a:ea typeface="Overpass"/>
                <a:cs typeface="Overpass"/>
                <a:sym typeface="Overpass"/>
              </a:rPr>
              <a:t>Cada</a:t>
            </a:r>
            <a:r>
              <a:rPr lang="es">
                <a:latin typeface="Overpass"/>
                <a:ea typeface="Overpass"/>
                <a:cs typeface="Overpass"/>
                <a:sym typeface="Overpass"/>
              </a:rPr>
              <a:t> arduino uno debe estar conectada a una fuente de energía externa ya sea una batería de 9V, o fuente de alimentación mediante USB.</a:t>
            </a:r>
            <a:endParaRPr>
              <a:latin typeface="Overpass"/>
              <a:ea typeface="Overpass"/>
              <a:cs typeface="Overpass"/>
              <a:sym typeface="Overpas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Overpass"/>
              <a:buChar char="-"/>
            </a:pPr>
            <a:r>
              <a:rPr lang="es">
                <a:latin typeface="Overpass"/>
                <a:ea typeface="Overpass"/>
                <a:cs typeface="Overpass"/>
                <a:sym typeface="Overpass"/>
              </a:rPr>
              <a:t>Requiere sistema de seguridad para evitar hurto o mala manipulación de este.</a:t>
            </a:r>
            <a:endParaRPr>
              <a:latin typeface="Overpass"/>
              <a:ea typeface="Overpass"/>
              <a:cs typeface="Overpass"/>
              <a:sym typeface="Overpas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Overpass"/>
              <a:buChar char="-"/>
            </a:pPr>
            <a:r>
              <a:rPr lang="es">
                <a:latin typeface="Overpass"/>
                <a:ea typeface="Overpass"/>
                <a:cs typeface="Overpass"/>
                <a:sym typeface="Overpass"/>
              </a:rPr>
              <a:t>La pantalla LED debe ser visible y estar en un lugar fijo para evitar problemas de cableado.</a:t>
            </a:r>
            <a:endParaRPr>
              <a:latin typeface="Overpass"/>
              <a:ea typeface="Overpass"/>
              <a:cs typeface="Overpass"/>
              <a:sym typeface="Overpas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Overpass"/>
              <a:buChar char="-"/>
            </a:pPr>
            <a:r>
              <a:rPr lang="es">
                <a:latin typeface="Overpass"/>
                <a:ea typeface="Overpass"/>
                <a:cs typeface="Overpass"/>
                <a:sym typeface="Overpass"/>
              </a:rPr>
              <a:t>Se propone llevar una pequeña auditoría en conjunto con algunos profesores para encontrar el mejor lugar de instalación y su manejo.</a:t>
            </a:r>
            <a:endParaRPr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